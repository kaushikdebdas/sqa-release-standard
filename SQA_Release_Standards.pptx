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DC3BCE-B9CB-537B-14FF-E6A2EEF79C71}" v="1" dt="2026-05-03T12:09:46.1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ushik  Debdas" userId="S::kaushik@erainfotechbd.com::0690ba90-9e46-412f-9c6d-b264079b3f31" providerId="AD" clId="Web-{32DC3BCE-B9CB-537B-14FF-E6A2EEF79C71}"/>
    <pc:docChg chg="modSld">
      <pc:chgData name="Kaushik  Debdas" userId="S::kaushik@erainfotechbd.com::0690ba90-9e46-412f-9c6d-b264079b3f31" providerId="AD" clId="Web-{32DC3BCE-B9CB-537B-14FF-E6A2EEF79C71}" dt="2026-05-03T12:09:46.117" v="0"/>
      <pc:docMkLst>
        <pc:docMk/>
      </pc:docMkLst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56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56"/>
            <ac:spMk id="6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57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57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59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59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60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60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61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61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62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62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63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63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64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64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65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65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66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66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67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67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68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68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69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69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70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70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71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71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72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72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73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73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74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74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75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75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76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76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77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77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78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78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79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79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80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80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81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81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82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82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83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83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84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84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85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85"/>
            <ac:spMk id="5" creationId="{00000000-0000-0000-0000-000000000000}"/>
          </ac:spMkLst>
        </pc:spChg>
      </pc:sldChg>
      <pc:sldChg chg="modSp">
        <pc:chgData name="Kaushik  Debdas" userId="S::kaushik@erainfotechbd.com::0690ba90-9e46-412f-9c6d-b264079b3f31" providerId="AD" clId="Web-{32DC3BCE-B9CB-537B-14FF-E6A2EEF79C71}" dt="2026-05-03T12:09:46.117" v="0"/>
        <pc:sldMkLst>
          <pc:docMk/>
          <pc:sldMk cId="0" sldId="286"/>
        </pc:sldMkLst>
        <pc:spChg chg="mod">
          <ac:chgData name="Kaushik  Debdas" userId="S::kaushik@erainfotechbd.com::0690ba90-9e46-412f-9c6d-b264079b3f31" providerId="AD" clId="Web-{32DC3BCE-B9CB-537B-14FF-E6A2EEF79C71}" dt="2026-05-03T12:09:46.117" v="0"/>
          <ac:spMkLst>
            <pc:docMk/>
            <pc:sldMk cId="0" sldId="28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4AFF8-38FD-442A-8E33-789941A60151}" type="datetimeFigureOut"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4F894-96A2-482C-8DA5-D41A7871A74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86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164592" cy="11201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4023360"/>
            <a:ext cx="164592" cy="11201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26480" y="502920"/>
            <a:ext cx="2697480" cy="502920"/>
          </a:xfrm>
          <a:prstGeom prst="rect">
            <a:avLst/>
          </a:prstGeom>
          <a:solidFill>
            <a:srgbClr val="0F172A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0" y="5029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594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INFOTECH LTD.  ·  SQA TEAM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SQA Release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i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Standards.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basics fail, the release is denied. A field guide to what every developer must check before sending a build to QA.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Based on Sample Test Case Library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basic mistakes. Every sprint.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defects show up in QA again and again, across every category. They are not edge cases — they are the basics.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55648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810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19933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fields submit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22585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button stays clickable; form posts with blank email or password.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87752" y="1755648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87752" y="1755648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52344" y="1810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52344" y="19933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Plain-text password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52344" y="22585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rendered as text — visible while typing, in DOM, in payload.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18304" y="1755648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18304" y="1755648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1810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82896" y="19933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error messages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82896" y="22585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‘Something went wrong.’ — no field, no reason, no recovery hint.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48856" y="1755648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48856" y="1755648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13448" y="1810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13448" y="19933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Typos in error text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13448" y="22585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‘Plese enter a vaild email’ — visible to end users in production.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834640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834640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28895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" y="30723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field accepts letters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field allows ‘abc-123’; saved without country code.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87752" y="2834640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87752" y="2834640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52344" y="28895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52344" y="30723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accepts anything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52344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size cap, no type filter, no progress, no cancel.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18304" y="2834640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18304" y="2834640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82896" y="28895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82896" y="30723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Sticky header overlaps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82896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covers content on scroll; first paragraph hidden.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48856" y="2834640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48856" y="2834640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13448" y="28895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013448" y="30723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Dropdown values cut off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013448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selected value hidden because the field is too narrow.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3913632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3913632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" y="39684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1792" y="415137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with no confirmation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1792" y="44165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click → record gone. No confirm. No undo. No log.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587752" y="3913632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87752" y="3913632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52344" y="39684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752344" y="415137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link never expires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752344" y="44165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Forgot-password token reusable forever; sent over plain HTTP.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18304" y="3913632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18304" y="3913632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82896" y="39684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882896" y="415137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PDF cuts off mid-page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882896" y="44165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without commas, no page numbers, broken filename.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848856" y="3913632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848856" y="3913632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13448" y="39684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013448" y="415137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 copyright in footer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013448" y="44165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‘© 2022’ on a 2026 page; some footer links return 404.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STANDARD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basics fail, the release is denied.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26974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9535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Self-check first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run the basic checklist before opening a PR or asking for QA.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9272" y="2788920"/>
            <a:ext cx="26974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29535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47872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Same-day rejection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47872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release contains basic defects, SQA returns it the same day — no triage cycle.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2788920"/>
            <a:ext cx="26974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29535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9944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Re-submit clean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9944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is retested only after the developer confirms the basics pass.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Twenty-five basics — checked on every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3258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3258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23744" y="12801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23744" y="12801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8336" y="13258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63824" y="13258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90288" y="12801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0288" y="12801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3258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30368" y="13258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56832" y="12801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56832" y="12801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13258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96912" y="13258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17373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17373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1783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17830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3744" y="17373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3744" y="17373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88336" y="1783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06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63824" y="17830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Captcha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90288" y="17373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90288" y="17373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783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07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0368" y="17830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Forgot password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56832" y="17373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56832" y="17373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21424" y="1783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08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96912" y="17830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Buttons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21945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21945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22402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09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97280" y="22402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button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523744" y="21945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23744" y="21945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88336" y="22402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10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163824" y="22402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messages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590288" y="21945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90288" y="21945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22402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11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30368" y="22402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field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656832" y="21945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56832" y="21945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21424" y="22402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12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296912" y="22402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number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57200" y="26517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00" y="26517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" y="26974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13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97280" y="26974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Searching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2523744" y="26517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23744" y="26517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688336" y="26974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14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163824" y="26974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Dropdown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4590288" y="26517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90288" y="26517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0" y="26974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15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230368" y="26974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Checkbox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6656832" y="26517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56832" y="26517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21424" y="26974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16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296912" y="26974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57200" y="31089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57200" y="31089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1792" y="3154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17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097280" y="31546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 field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2523744" y="31089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523744" y="31089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688336" y="3154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18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3163824" y="31546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area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4590288" y="31089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590288" y="31089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54880" y="3154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19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5230368" y="31546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Currency/Amount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6656832" y="31089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656832" y="31089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821424" y="3154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20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7296912" y="31546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Tooltip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457200" y="35661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57200" y="35661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1792" y="36118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21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1097280" y="36118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2523744" y="35661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523744" y="35661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688336" y="36118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22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3163824" y="36118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4590288" y="35661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590288" y="35661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54880" y="36118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23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5230368" y="36118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Download/Report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6656832" y="35661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656832" y="35661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821424" y="36118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24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7296912" y="36118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457200" y="4023360"/>
            <a:ext cx="19751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57200" y="4023360"/>
            <a:ext cx="54864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21792" y="4069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</a:rPr>
              <a:t>25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1097280" y="40690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Footer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you allow at sign-up, you live with forever. Weak rules now mean weak accounts later.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 complexity — "123456" accepted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Confirm-password mismatch only checked on Submit, not on blur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Plus-alias trick (user+1@gmail.com) bypasses duplicate-account check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CAPTCHA — registration endpoint is open to bots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verification step; pro features accessible immediately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errors on the page: ‘Submitt’, ‘Reigster’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rules enforced: 8–16 chars, uppercase, number, special character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Confirm-password match checked on blur, not just on Submit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Plus-alias addresses normalized for duplicate detection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on registration; bot signups blocked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 required before pro features unlock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values retained after a validation error; spelling reviewed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2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most-used screen in any product. Mistakes here are visible to every user, every 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button enabled when email or password is empty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credentials → infinite spinner, no error message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visible in plain text in the input field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lockout after 10+ failed attempts (brute force open)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Enter does not submit the form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Logged-in URL works in incognito after logout (token still valid)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button disabled until both fields contain values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Field-specific error: ‘Email is required’ / ‘Invalid format’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masked by default; eye icon toggles visibility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/ CAPTCHA after defined failed attempts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key and button click both submit the form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token invalidated on logout; HTTPS enforced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3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field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 has one. Every form gets it wrong in the same handful of ways.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 user@example.com ’ rejected because of leading/trailing spaces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‘User@Example.com’ and ‘user@example.com’ saved as different users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‘user@example’ accepted as valid (no TLD check)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‘Invalid input’ error with no guidance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mobile keyboard hint — user types @ on alphabet layout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SQL/script payloads pass through to the server unsanitized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auto-trimmed before validation and storage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lowercased on save; comparison is case-insensitive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formats missing @, dot in domain, or with double dots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Field-specific error: ‘Please enter a valid email address’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type="email" with autocomplete="email" / inputmode="email"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sanitization for SQL injection and XSS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4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field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usability live in the same input. Both must be solid before release.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uses type="text" — password visible while typing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sent in plaintext in the network request body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value visible in localStorage, cookies, or URL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strength indicator on registration / change-password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characters (P@ss!w0rd#) silently rejected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paste support — password managers can’t fill the field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uses type="password"; eye icon toggles visibility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Transmitted only over HTTPS; never visible in DevTools payload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stored in localStorage / cookies in plain form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meter and rules visible during registration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printable special characters supported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(Ctrl+V and right-click) works for password managers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5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One-time password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OTP flow defeats the entire purpose of two-factor authentication.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length inconsistent — sometimes 4, sometimes 6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sent in URL query string — appears in logs and history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logged in plaintext on the server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expiry — same code accepted hours later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— same code can verify multiple times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 on verification — brute force succeeds in minutes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length is always 6 digits — never less, never more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Transmitted in HTTPS POST body — never in URL or logs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logs only request ID and outcome, never the OTP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expires after 5 minutes; expired codes always rejected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 — second attempt with same code returns ‘already used’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 failed attempts the OTP is invalidated; resend has cooldown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6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 protection (CAPTCHA)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CAPTCHA is broken, every protected endpoint is open. It must work on every browser.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silently when ad blockers are enabled — no fallback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audio CAPTCHA option — fails accessibility (WCAG 2.1)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happens client-side only — DOM manipulation bypasses it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challenge served on every page reload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expiry — token from 30 minutes ago still works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mobile, the challenge popup is cut off and unusable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verification on every submit — not client-only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is single-use; replay attempts rejected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challenge generated on every reload and after every failure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expires after 2 minutes; expired tokens trigger refresh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fallback present; visual contrast OK for color-blind users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rate-limit kicks in after repeated failures; mobile-tested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7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Forgot password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reset link is an authentication bypass if it leaks. Treat it like 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link uses http:// — token can be intercepted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has no expiry; valid forever once issued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is reusable — clicking the link twice still works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reveals whether an email is registered (account enumeration)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password keeps working after reset; other sessions stay alive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CAPTCHA / rate limit — endpoint can be abused for spam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link uses https:// only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is single-use and expires within 15–30 minutes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neutral message for valid and invalid emails — no enumeration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reset, all active sessions on other devices are logged out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password rejected immediately; CAPTCHA + IP rate limit enabled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arrives in inbox (DKIM/SPF/DMARC), not spam folder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8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Buttons &amp; actions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button that lies about its state — enabled when it shouldn’t be — corrupts 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button clickable while form is invalid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submits the form twice → duplicate records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loading state — user clicks again thinking nothing happened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text is clickable, not the surrounding button area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buttons fire immediately with no confirmation dialog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text says ‘OK’ or ‘Click here’ instead of the action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(greyed) while required fields are empty/invalid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on click + spinner shown until response returns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indicator visible during async work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button area is clickable, with hover state on the area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actions show a confirm dialog naming the item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describes the action: ‘Save changes’, ‘Delete user’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9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(destructive actions)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"Are you sure?" you skip is a support ticket waiting to happen — sometimes a lawsuit.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click deletes immediately — no confirmation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undo, no recovery — destructive and silent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delete; no soft-delete flag, no audit log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RBAC check — any user can delete any record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rules undefined — child rows orphan in the database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success message — user is unsure if anything happened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modal names the record and the consequences explicitly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+ Confirm clearly distinguished; destructive action is non-default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 dismisses; modal is keyboard-accessible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by default; restorable within a documented window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toast appears for ~8 seconds after deletion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enforced server-side; audit log captures user, timestamp, IP, record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10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messages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error message has a typo, the user assumes the whole product has typos.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‘Plese entr valid emial’ — spelling/grammar mistakes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stack trace shown in production UI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disappears in 1 second before the user can read it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shifts the form layout when the error appears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generic ‘Error occurred’ used for every field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500 page — blank white screen on server error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and grammar reviewed before merge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server errors, with a request/error ID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stays visible until corrected or the user dismisses it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space prevents layout shift when error appears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Field-specific text: ‘Mobile number must be 11 digits’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500 / 404 pages with a recovery CTA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11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field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form is a stack of single-line inputs. Validation, sanitization, character handling — get any of them wrong and the whole form is unsafe.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field accepted; required-field validation never runs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and trailing spaces stored as-is — 'Iqbal ' ≠ 'Iqbal' in lookups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rendered raw on read view — XSS open; SQL injection unsanitized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max-length cap — 50,000-character paste breaks the database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/ emoji become ??? (latin1 charset, not utf8mb4)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fires only on Submit — user finds errors at the bottom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validation on blur AND submit, with field-specific error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trimmed; inner multi-spaces normalized to one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escaped on render (XSS-safe); SQL parameterized server-side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Max-length enforced at field + DB level; live counter visible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utf8mb4 charset — Bangla, emoji, mixed-language preserved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/ readonly states visually distinct; standard shortcuts work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12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number field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is a regional, format-sensitive identifier. Treat it like one — not like a free-text field.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accepts letters and special characters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without country code; cannot be searched cross-region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length validation — accepts 6-digit and 25-digit values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and dashes break the lookup query downstream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dropdown missing — only Bangladeshi numbers handled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 storable as 01711… and +8801711… — duplicates in DB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accepts digits only; length matches the selected country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code prefix visible (with flag); BD default for Bangladesh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E.164 international format (+8801711234567)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Whitespace, dashes and brackets normalized server-side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message specific to the country (BD: 11 digits, starts with 01)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works across all input formats of the same number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13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field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judge the entire product by how the search behaves. Placeholder, results, empty state — all of it must be designed.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search icon, no placeholder text — looks like any other input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Enter does not trigger search — must click button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 shows just ‘Wrong’ — no helpful message, no suggestions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loader while results fetch — page appears frozen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not sanitized — &lt;script&gt; in query renders on results page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breaks past page 3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Magnifying-glass icon visible; placeholder reads ‘Search providers, routes…’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and Search button both trigger the query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appear as user types (autocomplete with highlighted match)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 appears if results take &gt; 200 ms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 shows ‘No results found’ + related keywords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sanitized; SQL parameterized; pagination tested through last page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14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Dropdown / select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dropdown is data: ordered, complete, scrollable. Skip the basics and the form silently breaks.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value (‘Bangaldesh’) selected by default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Casing inconsistent across options (‘srilanka’ vs ‘Pakistan’)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Blank/empty option in the middle of the list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entries in the same list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looks random — neither alphabetical nor by spec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does not open via keyboard or first-letter typing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selected value cut off because the field is too narrow — only first few characters visible, with no indication that more text exists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present per the spec — none missing or extra; spell-checked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Title Case across all options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blank options (except an explicit ‘Select’ placeholder if intended)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duplicates; order matches the spec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values truncate cleanly with ellipsis; built-in search for long lists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Tab-able, arrow-key navigable, type-to-jump enabled; cross-browser parity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selected values truncate with ellipsis and show full text on hover, OR the field expands to fit — never silently hidden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15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Misalignment, missing labels, broken keyboard support — all of these silently produce wrong 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vertically misaligned with the checkbox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the label does not toggle the checkbox (no for/id link)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errors in label text (‘trems &amp; conditons’)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 with no visible label — only the developer knows what it does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label texts in the same group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keyboard support — Space key does not toggle; no focus ring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checkbox has a clear, distinct label linked via for/id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the label toggles the checkbox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reviewed; no duplicates; order matches the spec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focus ring when tabbed; Space toggles the focused checkbox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target ≥ 44×44 px on mobile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retained after a form validation error — user does not re-tick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16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 button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buttons promise mutual exclusion. Break that promise and the form is meaningless.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name attributes — multiple options selected at once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errors (‘Enterpise’) in label text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does not match the spec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the label text does not select the radio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focus indicator when navigated by keyboard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lost on validation error — user has to re-pick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radios share the same name — only one selectable at a time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matches the spec; clicking the label selects the radio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focus indicator when group receives keyboard focus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moves into group; arrow keys switch within group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group: clear ‘Please select an option.’ on empty submit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retained after validation error; touch ≥ 44×44 px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17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 input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URL field is a parser, not a textbox. If it accepts garbage, the database stores garbage.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with no dot accepted as a URL (‘example’ saved as-is)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protocol enforcement — bare domains saved without https://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and trailing whitespace not trimmed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javascript: URIs accepted — XSS waiting to happen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URLs and query parameters break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‘Wrong URL’ error — no guidance on what is wrong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http:// and https:// accepted; bare domains auto-prepend https://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Leading/trailing whitespace trimmed automatically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schemes (javascript:, data:, file:) rejected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URLs, query parameters, anchor fragments preserved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length enforced (e.g. 2048 chars) with a clear error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error messages per case; paste works in all major browsers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18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area (multiline input)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users can paste, attackers can paste payloads. Sanitize, count, and constrain — every 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&lt;script&gt; renders and executes on the result page — XSS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SQL parameterization — single-quote injection works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max-length cap — 1 MB paste accepted, breaks the database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word/character count visible to the user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file paste accepts .exe and .js without warning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 closes the field — user loses their input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and JavaScript stripped or escaped server-side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parameterized; injection attempts fail silently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char cap with live counter and ‘X / max’ indicator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 updates on type, paste, and right-click paste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only accepts whitelisted text formats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 keeps the field editable; content not lost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19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 / amount field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field that accepts free text creates messy data, broken reports, and angry finance teams.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decimal points accepted — value reads ‘1,000,000.5.5’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comma and letters allowed in the field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formatting — user types 1000000, sees 1000000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unformatted in the DB; reports show ‘1000000’ with no commas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values handled inconsistently — minus sign sometimes stripped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allowed value not enforced — overflow on aggregations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Commas inserted automatically as user types: 1000 → 1,000 → 10,000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allowed once; subsequent decimals rejected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values supported; minus sign always preceded by a digit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and special characters rejected with specific messages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raw number in DB; commas added in display layer only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formatting in every view — list, profile, dashboard, report, API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20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Tooltip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tooltip that lies, lags, or hides off-screen breaks trust faster than a missing feature.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cut off at the screen edge — does not auto-flip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text — ‘Click here for more information’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errors in the tooltip body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Disappears when pointer moves onto the tooltip body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 does not dismiss it; hover-only (no keyboard trigger)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aria-describedby / role="tooltip" — screen readers ignore it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Concise, specific text — answers the actual question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and grammar reviewed before merge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Auto-flips at screen edges; never cut off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when pointer moves onto the tooltip body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Dismissible via Esc; keyboard-focusable, not just hover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aria-describedby + role="tooltip"; respects prefers-reduced-motion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21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broken link is a dead end. Every "click here" is a missed accessibility signal.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‘click here’ / ‘more’ text — no context for users or screen readers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text indistinguishable from body text — same color, no underline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links use http:// — credentials leak in transit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links open in new tab without rel="noopener noreferrer"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404 / dead links present in production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links target hidden behind sticky header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text describes the destination — never ‘click here’ or bare URL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distinct: colored, underlined; hover and visited states differ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links use https:// only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target="_blank" links carry rel="noopener noreferrer"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broken-link checker runs in pipeline; build fails on dead links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mailto: / tel: links present where appropriate; visible focus ring on Tab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22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flows look fine in dev with small files and fast networks. Production breaks them.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file-type filter, no size limit, no progress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accepts disallowed types (client-side check only)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Upload twice — page appears frozen, file uploads twice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button missing during upload; user cannot abort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‘Upload failed.’ — no reason, no retry option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 executable accepted as a profile picture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types and max size enforced on BOTH client AND server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Drop-zone shows accepted formats and limits up front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with percentage during upload; cancel works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errors: ‘File too large. Max is 10 MB.’ / ‘Type not supported.’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state shows filename and size; ready for next step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button disabled while a request is in flight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23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/ report (PDF, Excel)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report is wrong, the customer assumes the system is wrong. Every glitch is a credibility tax.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misspelled (‘Reprot’) on the cover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shown without commas — ‘1000000’ not ‘1,000,000’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cut off at page bottom; sentences trail off mid-word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page numbers; cover page missing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is generic (‘data.pdf’); not derived from report or upload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/ no-data report still downloads as a blank PDF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title, generated-on timestamp on cover and header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consistently comma-formatted; currency symbol where relevant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break logic clean — no orphan lines, no cut-off content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numbers (‘Page X of Y’) on every page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derived from report or upload — never ‘data.pdf’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 blocked with clear message; special characters render correctly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24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 and navigation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 runs across every screen. If it breaks on Safari, every screen is broken on Safari.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verified only on Chrome — broken layout on Safari and Edge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header overlaps the first paragraph of body content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Hamburger menu opens but does not close on outside click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images / missing icons in the header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does not link back to the home page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errors in nav links (‘Reprots’, ‘Setings’)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verified on Chrome, Firefox, Safari, Edge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header has correct padding so content is never hidden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Hamburger opens and closes on tap, link click, or outside click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header assets load; alt text on every icon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always navigates to the home page from any screen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page underlined / colored to show current screen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25 OF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footer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footer signals a careless team. Spelling, alignment, links, copyright year — get all of them right.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ship this — release is denied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65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9476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these and submit with confidence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errors throughout (‘Cmpany’, ‘Carrers’, ‘Documentaion’)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year is stale (‘© 2022’ on a 2026 page)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footer links return 404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icons missing for required platforms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differs across pages — different links on Home vs Dashboard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breaks (overflows) on mobile — columns do not stack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and grammar reviewed before merge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year auto-updates from server year — never stale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links resolve (HTTP 200/301/302) — verified by CI broken-link job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is identical across every page; logo links to home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email field validated; success and error messages clear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cleanly on mobile and tablet — no overflow, no broken layout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RELEASE GATE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build moves through SQA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 follows the same path. Failing the basics returns the build immediately — before any functional testing begins.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" y="1965960"/>
            <a:ext cx="24231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" y="2130552"/>
            <a:ext cx="384048" cy="38404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30452" y="21031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self-check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30452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basics checklist on the feature.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31820" y="2423160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360420" y="1965960"/>
            <a:ext cx="24231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5012" y="2130552"/>
            <a:ext cx="384048" cy="38404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5012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00500" y="21031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to SQA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0050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 / mark ticket Ready for QA.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01868" y="2423160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30468" y="1965960"/>
            <a:ext cx="2423160" cy="91440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5060" y="2130552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506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0548" y="21031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SQA basics gate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0548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9 categories. Pass / fail decision.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56132" y="3383280"/>
            <a:ext cx="2423160" cy="91440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20724" y="3547872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0724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96212" y="35204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testing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96212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passed → full test scope runs.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4708" y="3383280"/>
            <a:ext cx="242316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29300" y="3547872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2930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4788" y="35204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Returned — release denied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04788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list shared with developer.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810512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19088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self-check — run before every PR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RELEASE STANDARDS  ·  ERA INFOTECH LTD.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508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DENIED IF BASICS FAIL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category. If you can’t tick all 25, fix first — don’t submit.</a:t>
            </a:r>
            <a:endParaRPr lang="en-US" sz="11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82496"/>
            <a:ext cx="146304" cy="146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" y="1627632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Register: Complexity rules; CAPTCHA; email verify; alias-safe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65960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" y="1911096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Submit disabled until valid; masked password; rate-limit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49424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4088" y="2194560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Format validated; whitespace trimmed; case-normalized</a:t>
            </a:r>
            <a:endParaRPr lang="en-US" sz="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32888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4088" y="2478024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Masked; eye toggle; strength meter; never logged</a:t>
            </a:r>
            <a:endParaRPr lang="en-US" sz="8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16352"/>
            <a:ext cx="146304" cy="14630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4088" y="2761488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OTP: 6 digits; HTTPS body; expires; single-use; rate-limited</a:t>
            </a:r>
            <a:endParaRPr lang="en-US" sz="8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99816"/>
            <a:ext cx="146304" cy="14630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04088" y="3044952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Captcha: Server-verified; single-use token; audio fallback</a:t>
            </a:r>
            <a:endParaRPr lang="en-US" sz="8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83280"/>
            <a:ext cx="146304" cy="14630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04088" y="3328416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pwd: HTTPS link; single-use; expires; no enumeration</a:t>
            </a:r>
            <a:endParaRPr lang="en-US" sz="8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66744"/>
            <a:ext cx="146304" cy="14630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04088" y="3611880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Buttons: Disabled while loading; double-click safe; keyboard OK</a:t>
            </a:r>
            <a:endParaRPr lang="en-US" sz="8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50208"/>
            <a:ext cx="146304" cy="146304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04088" y="3895344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Confirm modal; soft-delete + undo; RBAC; audit log</a:t>
            </a:r>
            <a:endParaRPr lang="en-US" sz="85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682496"/>
            <a:ext cx="146304" cy="146304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3493008" y="1627632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Errors: Field-specific; spelling reviewed; consistent tone</a:t>
            </a:r>
            <a:endParaRPr lang="en-US" sz="85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965960"/>
            <a:ext cx="146304" cy="146304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3493008" y="1911096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field: Trim; max-length; escape HTML; param SQL; utf8mb4</a:t>
            </a:r>
            <a:endParaRPr lang="en-US" sz="85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249424"/>
            <a:ext cx="146304" cy="146304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3493008" y="2194560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Digits only; country code prefix; stored in E.164</a:t>
            </a:r>
            <a:endParaRPr lang="en-US" sz="85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532888"/>
            <a:ext cx="146304" cy="146304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3493008" y="2478024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Icon + placeholder; Enter triggers; XSS / SQLi sanitized</a:t>
            </a:r>
            <a:endParaRPr lang="en-US" sz="85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816352"/>
            <a:ext cx="146304" cy="146304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3493008" y="2761488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Dropdown: All values; correct order; long values ellipsis + tooltip</a:t>
            </a:r>
            <a:endParaRPr lang="en-US" sz="850" dirty="0"/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099816"/>
            <a:ext cx="146304" cy="146304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3493008" y="3044952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Checkbox: Label clicks toggle; Space toggles; focus ring; 44px</a:t>
            </a:r>
            <a:endParaRPr lang="en-US" sz="850" dirty="0"/>
          </a:p>
        </p:txBody>
      </p:sp>
      <p:pic>
        <p:nvPicPr>
          <p:cNvPr id="38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383280"/>
            <a:ext cx="146304" cy="146304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3493008" y="3328416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Radio: Same name attr; arrow keys switch; selection retained</a:t>
            </a:r>
            <a:endParaRPr lang="en-US" sz="850" dirty="0"/>
          </a:p>
        </p:txBody>
      </p:sp>
      <p:pic>
        <p:nvPicPr>
          <p:cNvPr id="40" name="Image 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666744"/>
            <a:ext cx="146304" cy="146304"/>
          </a:xfrm>
          <a:prstGeom prst="rect">
            <a:avLst/>
          </a:prstGeom>
        </p:spPr>
      </p:pic>
      <p:sp>
        <p:nvSpPr>
          <p:cNvPr id="41" name="Text 22"/>
          <p:cNvSpPr/>
          <p:nvPr/>
        </p:nvSpPr>
        <p:spPr>
          <a:xfrm>
            <a:off x="3493008" y="3611880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Protocol enforced; whitespace trimmed; javascript: rejected</a:t>
            </a:r>
            <a:endParaRPr lang="en-US" sz="850" dirty="0"/>
          </a:p>
        </p:txBody>
      </p:sp>
      <p:pic>
        <p:nvPicPr>
          <p:cNvPr id="42" name="Image 1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950208"/>
            <a:ext cx="146304" cy="146304"/>
          </a:xfrm>
          <a:prstGeom prst="rect">
            <a:avLst/>
          </a:prstGeom>
        </p:spPr>
      </p:pic>
      <p:sp>
        <p:nvSpPr>
          <p:cNvPr id="43" name="Text 23"/>
          <p:cNvSpPr/>
          <p:nvPr/>
        </p:nvSpPr>
        <p:spPr>
          <a:xfrm>
            <a:off x="3493008" y="3895344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area: HTML escaped; SQL param; max-length + counter</a:t>
            </a:r>
            <a:endParaRPr lang="en-US" sz="850" dirty="0"/>
          </a:p>
        </p:txBody>
      </p:sp>
      <p:pic>
        <p:nvPicPr>
          <p:cNvPr id="44" name="Image 1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682496"/>
            <a:ext cx="146304" cy="146304"/>
          </a:xfrm>
          <a:prstGeom prst="rect">
            <a:avLst/>
          </a:prstGeom>
        </p:spPr>
      </p:pic>
      <p:sp>
        <p:nvSpPr>
          <p:cNvPr id="45" name="Text 24"/>
          <p:cNvSpPr/>
          <p:nvPr/>
        </p:nvSpPr>
        <p:spPr>
          <a:xfrm>
            <a:off x="6281928" y="1627632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Currency: Live commas; one decimal; max enforced; raw in DB</a:t>
            </a:r>
            <a:endParaRPr lang="en-US" sz="850" dirty="0"/>
          </a:p>
        </p:txBody>
      </p:sp>
      <p:pic>
        <p:nvPicPr>
          <p:cNvPr id="46" name="Image 1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965960"/>
            <a:ext cx="146304" cy="146304"/>
          </a:xfrm>
          <a:prstGeom prst="rect">
            <a:avLst/>
          </a:prstGeom>
        </p:spPr>
      </p:pic>
      <p:sp>
        <p:nvSpPr>
          <p:cNvPr id="47" name="Text 25"/>
          <p:cNvSpPr/>
          <p:nvPr/>
        </p:nvSpPr>
        <p:spPr>
          <a:xfrm>
            <a:off x="6281928" y="1911096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Tooltip: Specific text; auto-flips; Esc dismisses; keyboard OK</a:t>
            </a:r>
            <a:endParaRPr lang="en-US" sz="850" dirty="0"/>
          </a:p>
        </p:txBody>
      </p:sp>
      <p:pic>
        <p:nvPicPr>
          <p:cNvPr id="48" name="Image 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249424"/>
            <a:ext cx="146304" cy="146304"/>
          </a:xfrm>
          <a:prstGeom prst="rect">
            <a:avLst/>
          </a:prstGeom>
        </p:spPr>
      </p:pic>
      <p:sp>
        <p:nvSpPr>
          <p:cNvPr id="49" name="Text 26"/>
          <p:cNvSpPr/>
          <p:nvPr/>
        </p:nvSpPr>
        <p:spPr>
          <a:xfrm>
            <a:off x="6281928" y="2194560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Descriptive text; HTTPS; rel=noopener; CI 404 check</a:t>
            </a:r>
            <a:endParaRPr lang="en-US" sz="850" dirty="0"/>
          </a:p>
        </p:txBody>
      </p:sp>
      <p:pic>
        <p:nvPicPr>
          <p:cNvPr id="50" name="Image 2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532888"/>
            <a:ext cx="146304" cy="146304"/>
          </a:xfrm>
          <a:prstGeom prst="rect">
            <a:avLst/>
          </a:prstGeom>
        </p:spPr>
      </p:pic>
      <p:sp>
        <p:nvSpPr>
          <p:cNvPr id="51" name="Text 27"/>
          <p:cNvSpPr/>
          <p:nvPr/>
        </p:nvSpPr>
        <p:spPr>
          <a:xfrm>
            <a:off x="6281928" y="2478024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Upload: Type + size enforced client AND server; progress + cancel</a:t>
            </a:r>
            <a:endParaRPr lang="en-US" sz="850" dirty="0"/>
          </a:p>
        </p:txBody>
      </p:sp>
      <p:pic>
        <p:nvPicPr>
          <p:cNvPr id="52" name="Image 2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816352"/>
            <a:ext cx="146304" cy="146304"/>
          </a:xfrm>
          <a:prstGeom prst="rect">
            <a:avLst/>
          </a:prstGeom>
        </p:spPr>
      </p:pic>
      <p:sp>
        <p:nvSpPr>
          <p:cNvPr id="53" name="Text 28"/>
          <p:cNvSpPr/>
          <p:nvPr/>
        </p:nvSpPr>
        <p:spPr>
          <a:xfrm>
            <a:off x="6281928" y="2761488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Download: Page numbers; commas; filename derived; non-empty</a:t>
            </a:r>
            <a:endParaRPr lang="en-US" sz="850" dirty="0"/>
          </a:p>
        </p:txBody>
      </p:sp>
      <p:pic>
        <p:nvPicPr>
          <p:cNvPr id="54" name="Image 2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099816"/>
            <a:ext cx="146304" cy="146304"/>
          </a:xfrm>
          <a:prstGeom prst="rect">
            <a:avLst/>
          </a:prstGeom>
        </p:spPr>
      </p:pic>
      <p:sp>
        <p:nvSpPr>
          <p:cNvPr id="55" name="Text 29"/>
          <p:cNvSpPr/>
          <p:nvPr/>
        </p:nvSpPr>
        <p:spPr>
          <a:xfrm>
            <a:off x="6281928" y="3044952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Verified Chrome / Firefox / Safari / Edge; logo links home</a:t>
            </a:r>
            <a:endParaRPr lang="en-US" sz="850" dirty="0"/>
          </a:p>
        </p:txBody>
      </p:sp>
      <p:pic>
        <p:nvPicPr>
          <p:cNvPr id="56" name="Image 2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383280"/>
            <a:ext cx="146304" cy="146304"/>
          </a:xfrm>
          <a:prstGeom prst="rect">
            <a:avLst/>
          </a:prstGeom>
        </p:spPr>
      </p:pic>
      <p:sp>
        <p:nvSpPr>
          <p:cNvPr id="57" name="Text 30"/>
          <p:cNvSpPr/>
          <p:nvPr/>
        </p:nvSpPr>
        <p:spPr>
          <a:xfrm>
            <a:off x="6281928" y="3328416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Footer: Identical across pages; auto-updating year; responsive</a:t>
            </a:r>
            <a:endParaRPr lang="en-US" sz="850" dirty="0"/>
          </a:p>
        </p:txBody>
      </p:sp>
      <p:sp>
        <p:nvSpPr>
          <p:cNvPr id="58" name="Shape 31"/>
          <p:cNvSpPr/>
          <p:nvPr/>
        </p:nvSpPr>
        <p:spPr>
          <a:xfrm>
            <a:off x="457200" y="4206240"/>
            <a:ext cx="82296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9" name="Shape 32"/>
          <p:cNvSpPr/>
          <p:nvPr/>
        </p:nvSpPr>
        <p:spPr>
          <a:xfrm>
            <a:off x="457200" y="4206240"/>
            <a:ext cx="91440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" name="Text 33"/>
          <p:cNvSpPr/>
          <p:nvPr/>
        </p:nvSpPr>
        <p:spPr>
          <a:xfrm>
            <a:off x="685800" y="42062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Prevention is faster than fixing. Twenty-five ticks here saves the whole team a cycle.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SQA Release Standards</dc:title>
  <dc:subject>PptxGenJS Presentation</dc:subject>
  <dc:creator>Era Infotech BD — SQA Team</dc:creator>
  <cp:lastModifiedBy>Era Infotech BD — SQA Team</cp:lastModifiedBy>
  <cp:revision>3</cp:revision>
  <dcterms:created xsi:type="dcterms:W3CDTF">2026-05-01T12:25:20Z</dcterms:created>
  <dcterms:modified xsi:type="dcterms:W3CDTF">2026-05-03T12:09:57Z</dcterms:modified>
</cp:coreProperties>
</file>